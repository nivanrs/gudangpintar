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Proxima Nova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3FF8BA-3076-414B-BB67-E6FABC6E05AA}">
  <a:tblStyle styleId="{7F3FF8BA-3076-414B-BB67-E6FABC6E05A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5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21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roximaNova-regular.fntdata"/><Relationship Id="rId14" Type="http://schemas.openxmlformats.org/officeDocument/2006/relationships/slide" Target="slides/slide8.xml"/><Relationship Id="rId17" Type="http://schemas.openxmlformats.org/officeDocument/2006/relationships/font" Target="fonts/ProximaNova-italic.fntdata"/><Relationship Id="rId16" Type="http://schemas.openxmlformats.org/officeDocument/2006/relationships/font" Target="fonts/ProximaNova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Mon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roximaNov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a00184cee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a00184cee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a00184cee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ca00184cee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ca00184cee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ca00184cee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a00184cee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a00184cee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a00184cee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a00184cee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a00184ce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ca00184ce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a00184cee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a00184cee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a00184cee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a00184cee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0000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44350" y="4426850"/>
            <a:ext cx="629975" cy="62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 title="1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72450" y="60500"/>
            <a:ext cx="548700" cy="54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" name="Google Shape;42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Inventory Analysis Report</a:t>
            </a:r>
            <a:endParaRPr/>
          </a:p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GudangPintar — Analisis Inventory 15 Bulan (Jan 2025 – Mar 2026)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510450" y="4774744"/>
            <a:ext cx="81231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📋 Untuk: Pak Yusuf — Operations Manager  📅 Tanggal: 21 Februari 2026  📊 Data: 276 records (cleaned)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Executive Summary</a:t>
            </a:r>
            <a:endParaRPr sz="2000"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887736"/>
            <a:ext cx="8520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Berdasarkan analisis data inventory 15 bulan terakhir (20 SKU, 276 data bersih), GudangPintar mengalami </a:t>
            </a:r>
            <a:r>
              <a:rPr b="1" lang="en" sz="1200">
                <a:solidFill>
                  <a:schemeClr val="dk1"/>
                </a:solidFill>
                <a:highlight>
                  <a:schemeClr val="accent6"/>
                </a:highlight>
              </a:rPr>
              <a:t>masalah supply-demand yang sistemik:</a:t>
            </a:r>
            <a:r>
              <a:rPr lang="en" sz="1200">
                <a:solidFill>
                  <a:schemeClr val="dk1"/>
                </a:solidFill>
              </a:rPr>
              <a:t> kategori dengan permintaan tinggi (Fashion &amp; F&amp;B) terus-menerus stockout, sementara kategori dengan permintaan rendah (Beauty) justru overstocked dan mengikat Rp </a:t>
            </a:r>
            <a:r>
              <a:rPr b="1" lang="en" sz="1200">
                <a:solidFill>
                  <a:schemeClr val="dk1"/>
                </a:solidFill>
              </a:rPr>
              <a:t>170,8 juta</a:t>
            </a:r>
            <a:r>
              <a:rPr lang="en" sz="1200">
                <a:solidFill>
                  <a:schemeClr val="dk1"/>
                </a:solidFill>
              </a:rPr>
              <a:t> modal perusahaan.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 txBox="1"/>
          <p:nvPr>
            <p:ph idx="4294967295" type="subTitle"/>
          </p:nvPr>
        </p:nvSpPr>
        <p:spPr>
          <a:xfrm>
            <a:off x="510450" y="4774744"/>
            <a:ext cx="81231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📋 Untuk: Pak Yusuf — Operations Manager  📅 Tanggal: 21 Februari 2026 </a:t>
            </a:r>
            <a:endParaRPr sz="1000"/>
          </a:p>
        </p:txBody>
      </p:sp>
      <p:sp>
        <p:nvSpPr>
          <p:cNvPr id="71" name="Google Shape;71;p14"/>
          <p:cNvSpPr/>
          <p:nvPr/>
        </p:nvSpPr>
        <p:spPr>
          <a:xfrm>
            <a:off x="1482213" y="1938291"/>
            <a:ext cx="1629900" cy="787200"/>
          </a:xfrm>
          <a:prstGeom prst="rect">
            <a:avLst/>
          </a:prstGeom>
          <a:noFill/>
          <a:ln cap="flat" cmpd="sng" w="8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875" lIns="76875" spcFirstLastPara="1" rIns="76875" wrap="square" tIns="76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Total SKU Stockout</a:t>
            </a:r>
            <a:endParaRPr sz="756">
              <a:solidFill>
                <a:srgbClr val="64748B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52"/>
              </a:spcBef>
              <a:spcAft>
                <a:spcPts val="0"/>
              </a:spcAft>
              <a:buNone/>
            </a:pPr>
            <a:r>
              <a:rPr b="1" lang="en" sz="1513">
                <a:solidFill>
                  <a:srgbClr val="DC2626"/>
                </a:solidFill>
              </a:rPr>
              <a:t>8 / 20</a:t>
            </a:r>
            <a:endParaRPr b="1" sz="1513">
              <a:solidFill>
                <a:srgbClr val="DC262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52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SKU sering di bawah batas</a:t>
            </a:r>
            <a:endParaRPr sz="1177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3757050" y="1938291"/>
            <a:ext cx="1629900" cy="787200"/>
          </a:xfrm>
          <a:prstGeom prst="rect">
            <a:avLst/>
          </a:prstGeom>
          <a:noFill/>
          <a:ln cap="flat" cmpd="sng" w="8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875" lIns="76875" spcFirstLastPara="1" rIns="76875" wrap="square" tIns="76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Modal Tertahan</a:t>
            </a:r>
            <a:endParaRPr sz="756">
              <a:solidFill>
                <a:srgbClr val="64748B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52"/>
              </a:spcBef>
              <a:spcAft>
                <a:spcPts val="0"/>
              </a:spcAft>
              <a:buNone/>
            </a:pPr>
            <a:r>
              <a:rPr b="1" lang="en" sz="1513">
                <a:solidFill>
                  <a:srgbClr val="D97706"/>
                </a:solidFill>
              </a:rPr>
              <a:t>Rp 170,8 Jt</a:t>
            </a:r>
            <a:endParaRPr b="1" sz="1513">
              <a:solidFill>
                <a:srgbClr val="D97706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52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di kategori Beauty (overstocked)</a:t>
            </a:r>
            <a:endParaRPr sz="756">
              <a:solidFill>
                <a:srgbClr val="64748B"/>
              </a:solidFill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6031888" y="1938291"/>
            <a:ext cx="1629900" cy="787200"/>
          </a:xfrm>
          <a:prstGeom prst="rect">
            <a:avLst/>
          </a:prstGeom>
          <a:noFill/>
          <a:ln cap="flat" cmpd="sng" w="80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875" lIns="76875" spcFirstLastPara="1" rIns="76875" wrap="square" tIns="7687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Total Inventory Value</a:t>
            </a:r>
            <a:endParaRPr sz="756">
              <a:solidFill>
                <a:srgbClr val="64748B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52"/>
              </a:spcBef>
              <a:spcAft>
                <a:spcPts val="0"/>
              </a:spcAft>
              <a:buNone/>
            </a:pPr>
            <a:r>
              <a:rPr b="1" lang="en" sz="1513">
                <a:solidFill>
                  <a:srgbClr val="2563EB"/>
                </a:solidFill>
              </a:rPr>
              <a:t>Rp 582,3 Jt</a:t>
            </a:r>
            <a:endParaRPr b="1" sz="1513">
              <a:solidFill>
                <a:srgbClr val="2563EB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252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snapshot terakhir (20 SKU)</a:t>
            </a:r>
            <a:endParaRPr sz="756">
              <a:solidFill>
                <a:srgbClr val="64748B"/>
              </a:solidFill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2963615"/>
            <a:ext cx="8520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 Temuan Utama</a:t>
            </a:r>
            <a:endParaRPr b="1"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Fashion &amp; F&amp;B: Stockout 86–100% sepanjang periode: </a:t>
            </a: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8 SKU hampir selalu di bawah reorder point. Penyebab utama: reorder point hanya cukup untuk 5–7 hari, padahal lead time supplier 4–6 hari — hampir tidak ada buffer.</a:t>
            </a:r>
            <a:endParaRPr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SUP_EL02: Supplier paling tidak reliable: </a:t>
            </a: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Lead time rata-rata 13.9 hari (2–3× lebih lama dari supplier lain) dengan variasi sangat tinggi (std dev 4.6, range 7–23 hari). Mustahil merencanakan restock dengan supplier ini.</a:t>
            </a:r>
            <a:endParaRPr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52400" marR="152400" rtl="0" algn="just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Beauty: Overstocked 3.4–4.3× lipat reorder point: </a:t>
            </a: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Modal Rp 170,8 juta tertahan di 4 SKU Beauty yang slow-moving (hanya terjual 2–4 unit/hari). Modal ini seharusnya bisa dialokasikan untuk buffer stock F&amp;B/Fashion.</a:t>
            </a:r>
            <a:endParaRPr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75" name="Google Shape;75;p14"/>
          <p:cNvSpPr txBox="1"/>
          <p:nvPr>
            <p:ph idx="4294967295" type="subTitle"/>
          </p:nvPr>
        </p:nvSpPr>
        <p:spPr>
          <a:xfrm>
            <a:off x="0" y="42550"/>
            <a:ext cx="91440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900">
                <a:solidFill>
                  <a:srgbClr val="A4C2F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Bagian 1</a:t>
            </a:r>
            <a:endParaRPr sz="1000">
              <a:solidFill>
                <a:srgbClr val="A4C2F4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311700" y="350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Analisis Stockout — Root Cause</a:t>
            </a:r>
            <a:endParaRPr sz="200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887736"/>
            <a:ext cx="8520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Definisi stockout: CurrentStock ≤ ReorderPoint. Dari 20 SKU, ditemukan 8 SKU yang stockout lebih dari 80% sepanjang 15 bulan.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2" name="Google Shape;82;p15"/>
          <p:cNvSpPr txBox="1"/>
          <p:nvPr>
            <p:ph idx="4294967295" type="subTitle"/>
          </p:nvPr>
        </p:nvSpPr>
        <p:spPr>
          <a:xfrm>
            <a:off x="0" y="42550"/>
            <a:ext cx="91440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900">
                <a:solidFill>
                  <a:srgbClr val="A4C2F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Bagian 2</a:t>
            </a:r>
            <a:endParaRPr sz="1000">
              <a:solidFill>
                <a:srgbClr val="A4C2F4"/>
              </a:solidFill>
            </a:endParaRPr>
          </a:p>
        </p:txBody>
      </p:sp>
      <p:graphicFrame>
        <p:nvGraphicFramePr>
          <p:cNvPr id="83" name="Google Shape;83;p15"/>
          <p:cNvGraphicFramePr/>
          <p:nvPr/>
        </p:nvGraphicFramePr>
        <p:xfrm>
          <a:off x="311675" y="1623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{7F3FF8BA-3076-414B-BB67-E6FABC6E05AA}</a:tableStyleId>
              </a:tblPr>
              <a:tblGrid>
                <a:gridCol w="1048025"/>
                <a:gridCol w="2407975"/>
                <a:gridCol w="1621950"/>
                <a:gridCol w="1621950"/>
                <a:gridCol w="16219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SKU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Produk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Stockout Rate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Avg Demand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SKU-007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Sepatu Sneakers Nike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Fashion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15/15 (100.00%)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6.9/hari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SKU-005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Kemeja Formal Pria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Fashion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14/14 (100.00%)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9.3/hari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SKU-006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Dress Casual Wanita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Fashion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14/14 (100.00%)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8.3/hari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SKU-018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Teh Organik Premium Box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Food &amp; Beverage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14/14 (100.00%)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13.0/hari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SKU-019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Madu Hutan Asli 500ml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Food &amp; Beverage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13/13 (100.00%)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8.6/hari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SKU-008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Tas Ransel Eiger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Fashion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13/15 (86.67%)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5.7/hari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SKU-017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Kopi Arabika 250g Pack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Food &amp; Beverage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12/14 (85.71%)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16.3/hari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SKU-020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Snack Granola Mix 500g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Food &amp; Beverage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12/14 (85.71%)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19.4/hari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sp>
        <p:nvSpPr>
          <p:cNvPr id="84" name="Google Shape;84;p15"/>
          <p:cNvSpPr/>
          <p:nvPr/>
        </p:nvSpPr>
        <p:spPr>
          <a:xfrm>
            <a:off x="311725" y="4023475"/>
            <a:ext cx="83217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875" lIns="76875" spcFirstLastPara="1" rIns="76875" wrap="square" tIns="76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SKU dengan Stockout Rate Tertinggi</a:t>
            </a:r>
            <a:endParaRPr sz="1177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85" name="Google Shape;85;p15"/>
          <p:cNvSpPr txBox="1"/>
          <p:nvPr>
            <p:ph idx="4294967295" type="subTitle"/>
          </p:nvPr>
        </p:nvSpPr>
        <p:spPr>
          <a:xfrm>
            <a:off x="510450" y="4774744"/>
            <a:ext cx="81231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📋 Untuk: Pak Yusuf — Operations Manager  📅 Tanggal: 21 Februari 2026 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3410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Analisis Stockout — Root Cause: 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Kenapa Stockout Terjadi? — Reorder Point Tidak Memadai.</a:t>
            </a:r>
            <a:endParaRPr sz="1100"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887736"/>
            <a:ext cx="8520600" cy="1173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Fashion &amp; F&amp;B memiliki reorder point yang hanya bertahan </a:t>
            </a: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5–7 hari. </a:t>
            </a: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Dengan lead time supplier rata-rata 4–6 hari, </a:t>
            </a: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tidak ada buffer sama sekali</a:t>
            </a: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.  Begitu stok turun ke reorder point, barang belum sempat datang dan stok sudah habis.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Bandingkan dengan Beauty: reorder point bertahan </a:t>
            </a: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14–26 hari </a:t>
            </a: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— bahkan jika supplier telat, stok masih aman.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2" name="Google Shape;92;p16"/>
          <p:cNvSpPr txBox="1"/>
          <p:nvPr>
            <p:ph idx="4294967295" type="subTitle"/>
          </p:nvPr>
        </p:nvSpPr>
        <p:spPr>
          <a:xfrm>
            <a:off x="0" y="42550"/>
            <a:ext cx="91440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900">
                <a:solidFill>
                  <a:srgbClr val="A4C2F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Bagian 2</a:t>
            </a:r>
            <a:endParaRPr sz="1000">
              <a:solidFill>
                <a:srgbClr val="A4C2F4"/>
              </a:solidFill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11725" y="4458403"/>
            <a:ext cx="8321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875" lIns="76875" spcFirstLastPara="1" rIns="76875" wrap="square" tIns="76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Days of Stock SKU dengan Stockout Rate Tertinggi</a:t>
            </a:r>
            <a:endParaRPr sz="1177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94" name="Google Shape;94;p16"/>
          <p:cNvGraphicFramePr/>
          <p:nvPr/>
        </p:nvGraphicFramePr>
        <p:xfrm>
          <a:off x="442913" y="17408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{7F3FF8BA-3076-414B-BB67-E6FABC6E05AA}</a:tableStyleId>
              </a:tblPr>
              <a:tblGrid>
                <a:gridCol w="800100"/>
                <a:gridCol w="1838325"/>
                <a:gridCol w="1238250"/>
                <a:gridCol w="1238250"/>
                <a:gridCol w="1096425"/>
                <a:gridCol w="848525"/>
                <a:gridCol w="11983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SKU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Produk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Demand/Hari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Reorder Point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Days of Stock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Lead Time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Assessment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chemeClr val="dk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SKU-007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Sepatu Sneakers Nike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6.9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35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5.05 hari</a:t>
                      </a:r>
                      <a:endParaRPr b="1"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~5.47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Rawan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SKU-005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Kemeja Formal Pria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9.3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5.38 hari</a:t>
                      </a:r>
                      <a:endParaRPr b="1"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~4.86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Rawan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SKU-006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Dress Casual Wanita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8.3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45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5.43 hari</a:t>
                      </a:r>
                      <a:endParaRPr b="1"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~4.36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Rawan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SKU-018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Teh Organik Premium Box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13.0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80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6.15 hari</a:t>
                      </a:r>
                      <a:endParaRPr b="1"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~4.21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Rawan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SKU-019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Madu Hutan Asli 500ml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8.6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60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6.96 hari</a:t>
                      </a:r>
                      <a:endParaRPr b="1"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~5.38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Rawan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SKU-008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Tas Ransel Eiger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5.7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6.98 hari</a:t>
                      </a:r>
                      <a:endParaRPr b="1"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~6.07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Rawan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SKU-017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Kopi Arabika 250g Pack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16.3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100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6.14 hari</a:t>
                      </a:r>
                      <a:endParaRPr b="1"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~4.07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Rawan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SKU-020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Snack Granola Mix 500g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19.4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120</a:t>
                      </a:r>
                      <a:endParaRPr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6.18 hari</a:t>
                      </a:r>
                      <a:endParaRPr b="1" sz="1000"/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~5.36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Rawan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SKU-013</a:t>
                      </a:r>
                      <a:endParaRPr sz="1000"/>
                    </a:p>
                  </a:txBody>
                  <a:tcPr marT="19050" marB="19050" marR="28575" marL="28575" anchor="b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Skincare Set Whitelab</a:t>
                      </a:r>
                      <a:endParaRPr sz="1000"/>
                    </a:p>
                  </a:txBody>
                  <a:tcPr marT="19050" marB="19050" marR="28575" marL="28575" anchor="b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2.8</a:t>
                      </a:r>
                      <a:endParaRPr sz="1000"/>
                    </a:p>
                  </a:txBody>
                  <a:tcPr marT="19050" marB="19050" marR="28575" marL="28575" anchor="b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</a:t>
                      </a:r>
                      <a:endParaRPr sz="1000"/>
                    </a:p>
                  </a:txBody>
                  <a:tcPr marT="19050" marB="19050" marR="28575" marL="28575" anchor="b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14.29 hari</a:t>
                      </a:r>
                      <a:endParaRPr b="1" sz="1000"/>
                    </a:p>
                  </a:txBody>
                  <a:tcPr marT="19050" marB="19050" marR="28575" marL="28575" anchor="b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2563EB"/>
                          </a:solidFill>
                        </a:rPr>
                        <a:t>~6.40 hari</a:t>
                      </a:r>
                      <a:endParaRPr b="1" sz="1000">
                        <a:solidFill>
                          <a:srgbClr val="2563EB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Aman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95" name="Google Shape;95;p16"/>
          <p:cNvSpPr txBox="1"/>
          <p:nvPr>
            <p:ph idx="4294967295" type="subTitle"/>
          </p:nvPr>
        </p:nvSpPr>
        <p:spPr>
          <a:xfrm>
            <a:off x="510450" y="4774744"/>
            <a:ext cx="81231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📋 Untuk: Pak Yusuf — Operations Manager  📅 Tanggal: 21 Februari 2026 </a:t>
            </a:r>
            <a:endParaRPr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3410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Evaluasi Supplier</a:t>
            </a:r>
            <a:endParaRPr sz="1100"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887736"/>
            <a:ext cx="8520600" cy="1173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Dari 10 supplier yang aktif, SUP_EL02 (CV Tekno Global) teridentifikasi sebagai supplier paling bermasalah berdasarkan 3 metrik: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2" name="Google Shape;102;p17"/>
          <p:cNvSpPr txBox="1"/>
          <p:nvPr>
            <p:ph idx="4294967295" type="subTitle"/>
          </p:nvPr>
        </p:nvSpPr>
        <p:spPr>
          <a:xfrm>
            <a:off x="0" y="42550"/>
            <a:ext cx="91440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900">
                <a:solidFill>
                  <a:srgbClr val="A4C2F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Bagian 3</a:t>
            </a:r>
            <a:endParaRPr sz="1000">
              <a:solidFill>
                <a:srgbClr val="A4C2F4"/>
              </a:solidFill>
            </a:endParaRPr>
          </a:p>
        </p:txBody>
      </p:sp>
      <p:graphicFrame>
        <p:nvGraphicFramePr>
          <p:cNvPr id="103" name="Google Shape;103;p17"/>
          <p:cNvGraphicFramePr/>
          <p:nvPr/>
        </p:nvGraphicFramePr>
        <p:xfrm>
          <a:off x="365013" y="13058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{7F3FF8BA-3076-414B-BB67-E6FABC6E05AA}</a:tableStyleId>
              </a:tblPr>
              <a:tblGrid>
                <a:gridCol w="1300275"/>
                <a:gridCol w="1074600"/>
                <a:gridCol w="1074600"/>
                <a:gridCol w="1074600"/>
                <a:gridCol w="1074600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Supplier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Lead Time (Avg)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Range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Status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SUP_EL02</a:t>
                      </a:r>
                      <a:endParaRPr sz="1000"/>
                    </a:p>
                  </a:txBody>
                  <a:tcPr marT="19050" marB="19050" marR="28575" marL="28575" anchor="b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13.9</a:t>
                      </a:r>
                      <a:endParaRPr sz="1000"/>
                    </a:p>
                  </a:txBody>
                  <a:tcPr marT="19050" marB="19050" marR="28575" marL="28575" anchor="b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4.56</a:t>
                      </a:r>
                      <a:endParaRPr sz="1000"/>
                    </a:p>
                  </a:txBody>
                  <a:tcPr marT="19050" marB="19050" marR="28575" marL="28575" anchor="b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7-23 hari</a:t>
                      </a:r>
                      <a:endParaRPr sz="1000"/>
                    </a:p>
                  </a:txBody>
                  <a:tcPr marT="19050" marB="19050" marR="28575" marL="28575" anchor="b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UNRELIABLE</a:t>
                      </a:r>
                      <a:endParaRPr b="1" sz="1000"/>
                    </a:p>
                  </a:txBody>
                  <a:tcPr marT="19050" marB="19050" marR="28575" marL="28575" anchor="b">
                    <a:solidFill>
                      <a:srgbClr val="F4CCCC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SUP_HM01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8.6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1.24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6-10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SUP_HM02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7.4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2.19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4-10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SUP_EL01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1.38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5-9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SUP_BT02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6.3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1.54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4-8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SUP_FA02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1.81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3-9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SUP_FB02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5.4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1.28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3-7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SUP_BT01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5.0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0.87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4-6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SUP_FA01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4.6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1.50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3-7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SUP_FB01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4.1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0.71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3-5 hari</a:t>
                      </a:r>
                      <a:endParaRPr sz="10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OK</a:t>
                      </a:r>
                      <a:endParaRPr sz="10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sp>
        <p:nvSpPr>
          <p:cNvPr id="104" name="Google Shape;104;p17"/>
          <p:cNvSpPr/>
          <p:nvPr/>
        </p:nvSpPr>
        <p:spPr>
          <a:xfrm>
            <a:off x="311725" y="4344944"/>
            <a:ext cx="8321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875" lIns="76875" spcFirstLastPara="1" rIns="76875" wrap="square" tIns="76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Performa Supplier berdasarkan Lead Time, StdDev dan Range</a:t>
            </a:r>
            <a:endParaRPr sz="1177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6060650" y="1305900"/>
            <a:ext cx="2895600" cy="3468900"/>
          </a:xfrm>
          <a:prstGeom prst="rect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Kenapa SUP_EL02 Bermasalah?</a:t>
            </a:r>
            <a:endParaRPr b="1"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60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Lead time 2–3× lebih lama</a:t>
            </a:r>
            <a:b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rata-rata 13.9 hari vs 4–8 hari supplier lain</a:t>
            </a:r>
            <a:b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Sangat tidak konsisten</a:t>
            </a:r>
            <a:b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std dev 4.6 (bandingkan SUP_BT01: 0.9 dan SUP_FB01: 0.7)</a:t>
            </a:r>
            <a:b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Range 16 hari</a:t>
            </a:r>
            <a:b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dari 7 sampai 23 hari, membuat planning restock mustahil</a:t>
            </a:r>
            <a:br>
              <a:rPr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</a:br>
            <a:endParaRPr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just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000"/>
              <a:buFont typeface="Arial"/>
              <a:buChar char="●"/>
            </a:pPr>
            <a: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Dampak langsung</a:t>
            </a:r>
            <a:br>
              <a:rPr b="1" lang="en" sz="10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80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SKU-002 (Smartphone Samsung) stockout 66.7%, SKU-003 (Headphone Sony) stockout 54.5%</a:t>
            </a:r>
            <a:endParaRPr sz="8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>
            <p:ph idx="4294967295" type="subTitle"/>
          </p:nvPr>
        </p:nvSpPr>
        <p:spPr>
          <a:xfrm>
            <a:off x="510450" y="4774744"/>
            <a:ext cx="81231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📋 Untuk: Pak Yusuf — Operations Manager  📅 Tanggal: 21 Februari 2026 </a:t>
            </a:r>
            <a:endParaRPr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3410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Modal Tertahan — Overstocking Analysis</a:t>
            </a:r>
            <a:endParaRPr sz="2000"/>
          </a:p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311700" y="887736"/>
            <a:ext cx="8520600" cy="1173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50">
                <a:solidFill>
                  <a:srgbClr val="1A1A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Menggunakan rasio </a:t>
            </a:r>
            <a:r>
              <a:rPr lang="en" sz="1050">
                <a:solidFill>
                  <a:srgbClr val="1A1A2E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CurrentStock / ReorderPoint</a:t>
            </a:r>
            <a:r>
              <a:rPr lang="en" sz="1050">
                <a:solidFill>
                  <a:srgbClr val="1A1A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ditemukan bahwa </a:t>
            </a:r>
            <a:r>
              <a:rPr b="1" lang="en" sz="1050">
                <a:solidFill>
                  <a:srgbClr val="1A1A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Beauty</a:t>
            </a:r>
            <a:r>
              <a:rPr lang="en" sz="1050">
                <a:solidFill>
                  <a:srgbClr val="1A1A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adalah satu-satunya kategori yang overstocked dengan rata-rata rasio </a:t>
            </a:r>
            <a:r>
              <a:rPr b="1" lang="en" sz="1050">
                <a:solidFill>
                  <a:srgbClr val="1A1A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4.3×</a:t>
            </a:r>
            <a:r>
              <a:rPr lang="en" sz="1050">
                <a:solidFill>
                  <a:srgbClr val="1A1A2E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(threshold: &gt; 3×).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3" name="Google Shape;113;p18"/>
          <p:cNvSpPr txBox="1"/>
          <p:nvPr>
            <p:ph idx="4294967295" type="subTitle"/>
          </p:nvPr>
        </p:nvSpPr>
        <p:spPr>
          <a:xfrm>
            <a:off x="0" y="42550"/>
            <a:ext cx="91440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900">
                <a:solidFill>
                  <a:srgbClr val="A4C2F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Bagian 4</a:t>
            </a:r>
            <a:endParaRPr sz="1000">
              <a:solidFill>
                <a:srgbClr val="A4C2F4"/>
              </a:solidFill>
            </a:endParaRPr>
          </a:p>
        </p:txBody>
      </p:sp>
      <p:sp>
        <p:nvSpPr>
          <p:cNvPr id="114" name="Google Shape;114;p18"/>
          <p:cNvSpPr/>
          <p:nvPr/>
        </p:nvSpPr>
        <p:spPr>
          <a:xfrm>
            <a:off x="311725" y="2822694"/>
            <a:ext cx="8321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875" lIns="76875" spcFirstLastPara="1" rIns="76875" wrap="square" tIns="76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Rasio Stock per Kategori (Avg)</a:t>
            </a:r>
            <a:endParaRPr sz="1177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15" name="Google Shape;115;p18"/>
          <p:cNvGraphicFramePr/>
          <p:nvPr/>
        </p:nvGraphicFramePr>
        <p:xfrm>
          <a:off x="398225" y="1513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{7F3FF8BA-3076-414B-BB67-E6FABC6E05AA}</a:tableStyleId>
              </a:tblPr>
              <a:tblGrid>
                <a:gridCol w="877275"/>
                <a:gridCol w="688175"/>
                <a:gridCol w="9141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Kategori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Avg Ratio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Status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Beauty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4.3x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Overstock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rgbClr val="CC0000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Electronics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0.9x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Borderline</a:t>
                      </a:r>
                      <a:endParaRPr b="1" sz="800"/>
                    </a:p>
                  </a:txBody>
                  <a:tcPr marT="19050" marB="19050" marR="28575" marL="28575" anchor="b"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Fashion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0.4x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Understock</a:t>
                      </a:r>
                      <a:endParaRPr b="1" sz="800"/>
                    </a:p>
                  </a:txBody>
                  <a:tcPr marT="19050" marB="19050" marR="28575" marL="28575" anchor="b"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Food &amp; Beverage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0.4x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Understock</a:t>
                      </a:r>
                      <a:endParaRPr b="1" sz="800"/>
                    </a:p>
                  </a:txBody>
                  <a:tcPr marT="19050" marB="19050" marR="28575" marL="28575" anchor="b">
                    <a:solidFill>
                      <a:srgbClr val="EFEFE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Home &amp; Living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1.5x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Baik</a:t>
                      </a:r>
                      <a:endParaRPr b="1" sz="800"/>
                    </a:p>
                  </a:txBody>
                  <a:tcPr marT="19050" marB="19050" marR="28575" marL="28575" anchor="b"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6" name="Google Shape;116;p18"/>
          <p:cNvGraphicFramePr/>
          <p:nvPr/>
        </p:nvGraphicFramePr>
        <p:xfrm>
          <a:off x="3565650" y="1513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{7F3FF8BA-3076-414B-BB67-E6FABC6E05AA}</a:tableStyleId>
              </a:tblPr>
              <a:tblGrid>
                <a:gridCol w="642775"/>
                <a:gridCol w="1446425"/>
                <a:gridCol w="794025"/>
                <a:gridCol w="816175"/>
                <a:gridCol w="400125"/>
                <a:gridCol w="8729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SKU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Produk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Stock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Reorder Pt.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Ratio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</a:rPr>
                        <a:t>Nilai Tertahan</a:t>
                      </a:r>
                      <a:endParaRPr b="1" sz="8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28575" marL="28575" anchor="b">
                    <a:solidFill>
                      <a:schemeClr val="dk2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SKU-013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Skincare Set Whitelab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153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40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3.8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Rp84,150,000</a:t>
                      </a:r>
                      <a:endParaRPr sz="800"/>
                    </a:p>
                  </a:txBody>
                  <a:tcPr marT="19050" marB="19050" marR="28575" marL="28575" anchor="b"/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SKU-014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Lipstik Matte Wardah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268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80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3.4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Rp22,780,000</a:t>
                      </a:r>
                      <a:endParaRPr sz="800"/>
                    </a:p>
                  </a:txBody>
                  <a:tcPr marT="19050" marB="19050" marR="28575" marL="28575" anchor="b"/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SKU-015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Foundation Maybelline Fit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223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60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3.7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Rp36,795,000</a:t>
                      </a:r>
                      <a:endParaRPr sz="800"/>
                    </a:p>
                  </a:txBody>
                  <a:tcPr marT="19050" marB="19050" marR="28575" marL="28575" anchor="b"/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SKU-016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Parfum EDT Brasov 100ml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217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50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4.3</a:t>
                      </a:r>
                      <a:endParaRPr sz="800"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Rp27,125,000</a:t>
                      </a:r>
                      <a:endParaRPr sz="800"/>
                    </a:p>
                  </a:txBody>
                  <a:tcPr marT="19050" marB="19050" marR="28575" marL="28575" anchor="b"/>
                </a:tc>
              </a:tr>
              <a:tr h="200025">
                <a:tc gridSpan="5"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Total Modal Tertahan di Beauty</a:t>
                      </a:r>
                      <a:endParaRPr b="1" sz="800"/>
                    </a:p>
                  </a:txBody>
                  <a:tcPr marT="19050" marB="19050" marR="28575" marL="28575" anchor="b"/>
                </a:tc>
                <a:tc hMerge="1"/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/>
                        <a:t>Rp170,850,000</a:t>
                      </a:r>
                      <a:endParaRPr b="1" sz="800"/>
                    </a:p>
                  </a:txBody>
                  <a:tcPr marT="19050" marB="19050" marR="28575" marL="28575" anchor="b"/>
                </a:tc>
              </a:tr>
            </a:tbl>
          </a:graphicData>
        </a:graphic>
      </p:graphicFrame>
      <p:sp>
        <p:nvSpPr>
          <p:cNvPr id="117" name="Google Shape;117;p18"/>
          <p:cNvSpPr/>
          <p:nvPr/>
        </p:nvSpPr>
        <p:spPr>
          <a:xfrm>
            <a:off x="3565650" y="3334375"/>
            <a:ext cx="49725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76875" lIns="76875" spcFirstLastPara="1" rIns="76875" wrap="square" tIns="76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6">
                <a:solidFill>
                  <a:srgbClr val="64748B"/>
                </a:solidFill>
              </a:rPr>
              <a:t>Detail: Modal Tertahan di Kategori Beauty (Snapshot Terakhir)</a:t>
            </a:r>
            <a:endParaRPr sz="1177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3606552"/>
            <a:ext cx="8520600" cy="11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Implikasi Bisnis</a:t>
            </a:r>
            <a:br>
              <a:rPr b="1" lang="en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Beauty hanya terjual rata-rata. </a:t>
            </a:r>
            <a:r>
              <a:rPr b="1" lang="en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2–4 unit/hari </a:t>
            </a:r>
            <a:r>
              <a:rPr lang="en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tapi stok 3–4× lipat dari batas wajar. Modal </a:t>
            </a:r>
            <a:r>
              <a:rPr b="1" lang="en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Rp 170,8 juta </a:t>
            </a:r>
            <a:r>
              <a:rPr lang="en" sz="1050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yang tertahan di sini seharusnya bisa digunakan untuk membiayai buffer stock Fashion &amp; F&amp;B — dua kategori yang terus-menerus stockout dan berkontribusi langsung ke kerugian Rp 500 juta/bulan.</a:t>
            </a:r>
            <a:endParaRPr b="1" sz="1000">
              <a:solidFill>
                <a:srgbClr val="1A1A2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 txBox="1"/>
          <p:nvPr>
            <p:ph idx="4294967295" type="subTitle"/>
          </p:nvPr>
        </p:nvSpPr>
        <p:spPr>
          <a:xfrm>
            <a:off x="510450" y="4774744"/>
            <a:ext cx="81231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📋 Untuk: Pak Yusuf — Operations Manager  📅 Tanggal: 21 Februari 2026 </a:t>
            </a:r>
            <a:endParaRPr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3410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Rekomendasi &amp; Next Actions</a:t>
            </a:r>
            <a:endParaRPr sz="2000"/>
          </a:p>
        </p:txBody>
      </p:sp>
      <p:sp>
        <p:nvSpPr>
          <p:cNvPr id="125" name="Google Shape;125;p19"/>
          <p:cNvSpPr txBox="1"/>
          <p:nvPr>
            <p:ph idx="4294967295" type="subTitle"/>
          </p:nvPr>
        </p:nvSpPr>
        <p:spPr>
          <a:xfrm>
            <a:off x="0" y="42550"/>
            <a:ext cx="91440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900">
                <a:solidFill>
                  <a:srgbClr val="A4C2F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Bagian 5</a:t>
            </a:r>
            <a:endParaRPr sz="1000">
              <a:solidFill>
                <a:srgbClr val="A4C2F4"/>
              </a:solidFill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53850" y="954950"/>
            <a:ext cx="8378700" cy="161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C2626"/>
                </a:solidFill>
              </a:rPr>
              <a:t>URGENT</a:t>
            </a:r>
            <a:endParaRPr sz="850">
              <a:solidFill>
                <a:srgbClr val="DC2626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1A1A2E"/>
                </a:solidFill>
              </a:rPr>
              <a:t>Naikkan Reorder Point untuk Fashion &amp; F&amp;B</a:t>
            </a:r>
            <a:br>
              <a:rPr b="1" lang="en" sz="1150">
                <a:solidFill>
                  <a:srgbClr val="1A1A2E"/>
                </a:solidFill>
              </a:rPr>
            </a:br>
            <a:r>
              <a:rPr b="1" lang="en" sz="1050">
                <a:solidFill>
                  <a:srgbClr val="64748B"/>
                </a:solidFill>
              </a:rPr>
              <a:t>Apa:</a:t>
            </a:r>
            <a:r>
              <a:rPr lang="en" sz="1050">
                <a:solidFill>
                  <a:srgbClr val="64748B"/>
                </a:solidFill>
              </a:rPr>
              <a:t> </a:t>
            </a:r>
            <a:r>
              <a:rPr lang="en" sz="1050">
                <a:solidFill>
                  <a:srgbClr val="64748B"/>
                </a:solidFill>
              </a:rPr>
              <a:t>Ubah formula reorder point menjadi </a:t>
            </a:r>
            <a:r>
              <a:rPr lang="en" sz="1050">
                <a:solidFill>
                  <a:srgbClr val="64748B"/>
                </a:solidFill>
                <a:latin typeface="Roboto Mono"/>
                <a:ea typeface="Roboto Mono"/>
                <a:cs typeface="Roboto Mono"/>
                <a:sym typeface="Roboto Mono"/>
              </a:rPr>
              <a:t>DailySalesAvg × LeadTime × 2</a:t>
            </a:r>
            <a:r>
              <a:rPr lang="en" sz="1050">
                <a:solidFill>
                  <a:srgbClr val="64748B"/>
                </a:solidFill>
              </a:rPr>
              <a:t> (safety factor 2×) untuk semua SKU di kategori Fashion dan F&amp;B.</a:t>
            </a:r>
            <a:br>
              <a:rPr lang="en" sz="1050">
                <a:solidFill>
                  <a:srgbClr val="64748B"/>
                </a:solidFill>
              </a:rPr>
            </a:br>
            <a:r>
              <a:rPr b="1" lang="en" sz="1050">
                <a:solidFill>
                  <a:srgbClr val="64748B"/>
                </a:solidFill>
              </a:rPr>
              <a:t>Kenapa:</a:t>
            </a:r>
            <a:r>
              <a:rPr lang="en" sz="1050">
                <a:solidFill>
                  <a:srgbClr val="64748B"/>
                </a:solidFill>
              </a:rPr>
              <a:t> </a:t>
            </a:r>
            <a:r>
              <a:rPr lang="en" sz="1050">
                <a:solidFill>
                  <a:srgbClr val="64748B"/>
                </a:solidFill>
              </a:rPr>
              <a:t>Reorder point saat ini hanya cukup untuk 5–7 hari — hampir sama dengan lead time supplier (4–6 hari), sehingga tidak ada buffer. Dengan safety factor 2×, stok akan bertahan 10–14 hari, cukup untuk mengakomodasi keterlambatan supplier.</a:t>
            </a:r>
            <a:endParaRPr sz="1050">
              <a:solidFill>
                <a:srgbClr val="64748B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A34A"/>
                </a:solidFill>
              </a:rPr>
              <a:t>📈 Estimasi dampak: Mengurangi stockout rate dari ~90% menjadi &lt;30% di kedua kategori</a:t>
            </a:r>
            <a:endParaRPr b="1" sz="1150">
              <a:solidFill>
                <a:srgbClr val="1A1A2E"/>
              </a:solidFill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453850" y="2864850"/>
            <a:ext cx="8378700" cy="161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DC2626"/>
                </a:solidFill>
              </a:rPr>
              <a:t>URGENT</a:t>
            </a:r>
            <a:endParaRPr sz="850">
              <a:solidFill>
                <a:srgbClr val="DC2626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1A1A2E"/>
                </a:solidFill>
              </a:rPr>
              <a:t>Evaluasi &amp; Negosiasi Ulang dengan SUP_EL02</a:t>
            </a:r>
            <a:endParaRPr b="1" sz="1150">
              <a:solidFill>
                <a:srgbClr val="1A1A2E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64748B"/>
                </a:solidFill>
              </a:rPr>
              <a:t>Apa:</a:t>
            </a:r>
            <a:r>
              <a:rPr lang="en" sz="1050">
                <a:solidFill>
                  <a:srgbClr val="64748B"/>
                </a:solidFill>
              </a:rPr>
              <a:t> Jadwalkan pertemuan dengan SUP_EL02 untuk menegosiasi SLA lead time maksimum 10 hari. Jika tidak bisa dipenuhi, cari supplier alternatif untuk SKU-002 (Smartphone Samsung) dan SKU-003 (Headphone Sony).</a:t>
            </a:r>
            <a:br>
              <a:rPr lang="en" sz="1050">
                <a:solidFill>
                  <a:srgbClr val="64748B"/>
                </a:solidFill>
              </a:rPr>
            </a:br>
            <a:r>
              <a:rPr b="1" lang="en" sz="1050">
                <a:solidFill>
                  <a:srgbClr val="64748B"/>
                </a:solidFill>
              </a:rPr>
              <a:t>Kenapa:</a:t>
            </a:r>
            <a:r>
              <a:rPr lang="en" sz="1050">
                <a:solidFill>
                  <a:srgbClr val="64748B"/>
                </a:solidFill>
              </a:rPr>
              <a:t> Lead time SUP_EL02 rata-rata 13.9 hari dengan range hingga 23 hari — 2–3× lebih lambat dari supplier lain. Variasi tinggi (std dev 4.6) membuat planning restock mustahil.</a:t>
            </a:r>
            <a:endParaRPr sz="1050">
              <a:solidFill>
                <a:srgbClr val="64748B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A34A"/>
                </a:solidFill>
              </a:rPr>
              <a:t>📈 Estimasi dampak: Mengurangi stockout SKU-002 dari 66.7% dan SKU-003 dari 54.5%</a:t>
            </a:r>
            <a:endParaRPr sz="850">
              <a:solidFill>
                <a:srgbClr val="DC2626"/>
              </a:solidFill>
            </a:endParaRPr>
          </a:p>
        </p:txBody>
      </p:sp>
      <p:sp>
        <p:nvSpPr>
          <p:cNvPr id="128" name="Google Shape;128;p19"/>
          <p:cNvSpPr txBox="1"/>
          <p:nvPr>
            <p:ph idx="4294967295" type="subTitle"/>
          </p:nvPr>
        </p:nvSpPr>
        <p:spPr>
          <a:xfrm>
            <a:off x="510450" y="4774744"/>
            <a:ext cx="81231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📋 Untuk: Pak Yusuf — Operations Manager  📅 Tanggal: 21 Februari 2026 </a:t>
            </a:r>
            <a:endParaRPr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311700" y="3410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Rekomendasi &amp; Next Actions</a:t>
            </a:r>
            <a:endParaRPr sz="2000"/>
          </a:p>
        </p:txBody>
      </p:sp>
      <p:sp>
        <p:nvSpPr>
          <p:cNvPr id="134" name="Google Shape;134;p20"/>
          <p:cNvSpPr txBox="1"/>
          <p:nvPr>
            <p:ph idx="4294967295" type="subTitle"/>
          </p:nvPr>
        </p:nvSpPr>
        <p:spPr>
          <a:xfrm>
            <a:off x="0" y="42550"/>
            <a:ext cx="91440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500"/>
              </a:spcAft>
              <a:buNone/>
            </a:pPr>
            <a:r>
              <a:rPr b="1" lang="en" sz="900">
                <a:solidFill>
                  <a:srgbClr val="A4C2F4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 Bagian 5</a:t>
            </a:r>
            <a:endParaRPr sz="1000">
              <a:solidFill>
                <a:srgbClr val="A4C2F4"/>
              </a:solidFill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453850" y="954950"/>
            <a:ext cx="8378700" cy="161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EA580C"/>
                </a:solidFill>
              </a:rPr>
              <a:t>IMPORTANT</a:t>
            </a:r>
            <a:endParaRPr sz="850">
              <a:solidFill>
                <a:srgbClr val="EA580C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1A1A2E"/>
                </a:solidFill>
              </a:rPr>
              <a:t>Reallokasi Modal dari Beauty ke Fashion &amp; F&amp;B</a:t>
            </a:r>
            <a:endParaRPr b="1" sz="1150">
              <a:solidFill>
                <a:srgbClr val="1A1A2E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64748B"/>
                </a:solidFill>
              </a:rPr>
              <a:t>Apa:</a:t>
            </a:r>
            <a:r>
              <a:rPr lang="en" sz="1050">
                <a:solidFill>
                  <a:srgbClr val="64748B"/>
                </a:solidFill>
              </a:rPr>
              <a:t> Turunkan reorder point Beauty sebesar 40–50% (dari 40–80 menjadi 20–40) dan hentikan restock agresif. Gunakan modal yang dibebaskan (est. Rp 80–100 juta) untuk menambah buffer stock F&amp;B dan Fashion.</a:t>
            </a:r>
            <a:br>
              <a:rPr lang="en" sz="1050">
                <a:solidFill>
                  <a:srgbClr val="64748B"/>
                </a:solidFill>
              </a:rPr>
            </a:br>
            <a:r>
              <a:rPr b="1" lang="en" sz="1050">
                <a:solidFill>
                  <a:srgbClr val="64748B"/>
                </a:solidFill>
              </a:rPr>
              <a:t>Kenapa:</a:t>
            </a:r>
            <a:r>
              <a:rPr lang="en" sz="1050">
                <a:solidFill>
                  <a:srgbClr val="64748B"/>
                </a:solidFill>
              </a:rPr>
              <a:t> Beauty punya rasio stock 3.4–4.3× lipat dari reorder point dengan demand sangat rendah (2–4/hari). Rp 170,8 juta tertahan di sini sementara F&amp;B dan Fashion terus stockout. Ini adalah "uang mati" yang tidak produktif.</a:t>
            </a:r>
            <a:endParaRPr sz="1050">
              <a:solidFill>
                <a:srgbClr val="64748B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A34A"/>
                </a:solidFill>
              </a:rPr>
              <a:t>📈 Estimasi dampak: Membebaskan Rp 80–100 juta untuk buffer stock kategori high-demand</a:t>
            </a:r>
            <a:endParaRPr sz="850">
              <a:solidFill>
                <a:srgbClr val="DC2626"/>
              </a:solidFill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453850" y="2864850"/>
            <a:ext cx="8378700" cy="1616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15803D"/>
                </a:solidFill>
                <a:highlight>
                  <a:srgbClr val="F0FDF4"/>
                </a:highlight>
              </a:rPr>
              <a:t>NICE-TO-HAVE</a:t>
            </a:r>
            <a:endParaRPr sz="850">
              <a:solidFill>
                <a:srgbClr val="15803D"/>
              </a:solidFill>
              <a:highlight>
                <a:srgbClr val="F0FDF4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1A1A2E"/>
                </a:solidFill>
                <a:highlight>
                  <a:srgbClr val="FFFFFF"/>
                </a:highlight>
              </a:rPr>
              <a:t>Implementasi Monitoring Alert Otomatis</a:t>
            </a:r>
            <a:endParaRPr b="1" sz="1150">
              <a:solidFill>
                <a:srgbClr val="1A1A2E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64748B"/>
                </a:solidFill>
                <a:highlight>
                  <a:srgbClr val="FFFFFF"/>
                </a:highlight>
              </a:rPr>
              <a:t>Apa:</a:t>
            </a:r>
            <a:r>
              <a:rPr lang="en" sz="1050">
                <a:solidFill>
                  <a:srgbClr val="64748B"/>
                </a:solidFill>
                <a:highlight>
                  <a:srgbClr val="FFFFFF"/>
                </a:highlight>
              </a:rPr>
              <a:t> Buat sistem alert otomatis di spreadsheet yang menandai SKU berdasarkan status stock harian.</a:t>
            </a:r>
            <a:br>
              <a:rPr lang="en" sz="1050">
                <a:solidFill>
                  <a:srgbClr val="64748B"/>
                </a:solidFill>
                <a:highlight>
                  <a:srgbClr val="FFFFFF"/>
                </a:highlight>
              </a:rPr>
            </a:br>
            <a:r>
              <a:rPr b="1" lang="en" sz="1050">
                <a:solidFill>
                  <a:srgbClr val="64748B"/>
                </a:solidFill>
                <a:highlight>
                  <a:srgbClr val="FFFFFF"/>
                </a:highlight>
              </a:rPr>
              <a:t>Kenapa:</a:t>
            </a:r>
            <a:r>
              <a:rPr lang="en" sz="1050">
                <a:solidFill>
                  <a:srgbClr val="64748B"/>
                </a:solidFill>
                <a:highlight>
                  <a:srgbClr val="FFFFFF"/>
                </a:highlight>
              </a:rPr>
              <a:t> Saat ini tidak ada early warning — stok habis baru ketahuan setelah sudah stockout. Alert proaktif akan memberikan waktu untuk restock sebelum terlambat.</a:t>
            </a:r>
            <a:endParaRPr sz="1050">
              <a:solidFill>
                <a:srgbClr val="64748B"/>
              </a:solidFill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6A34A"/>
                </a:solidFill>
                <a:highlight>
                  <a:srgbClr val="FFFFFF"/>
                </a:highlight>
              </a:rPr>
              <a:t>📈 Estimasi dampak: Mendeteksi potensi stockout 3–5 hari lebih awal</a:t>
            </a:r>
            <a:endParaRPr sz="850">
              <a:solidFill>
                <a:srgbClr val="EA580C"/>
              </a:solidFill>
              <a:highlight>
                <a:srgbClr val="FFF7ED"/>
              </a:highlight>
            </a:endParaRPr>
          </a:p>
        </p:txBody>
      </p:sp>
      <p:sp>
        <p:nvSpPr>
          <p:cNvPr id="137" name="Google Shape;137;p20"/>
          <p:cNvSpPr txBox="1"/>
          <p:nvPr>
            <p:ph idx="4294967295" type="subTitle"/>
          </p:nvPr>
        </p:nvSpPr>
        <p:spPr>
          <a:xfrm>
            <a:off x="510450" y="4774744"/>
            <a:ext cx="8123100" cy="3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000"/>
              <a:t>📋 Untuk: Pak Yusuf — Operations Manager  📅 Tanggal: 21 Februari 2026 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